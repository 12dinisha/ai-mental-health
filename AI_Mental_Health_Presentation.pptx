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6934" y="0"/>
            <a:ext cx="12231160" cy="6856214"/>
            <a:chOff x="-16934" y="0"/>
            <a:chExt cx="12231160" cy="6856214"/>
          </a:xfrm>
        </p:grpSpPr>
        <p:pic>
          <p:nvPicPr>
            <p:cNvPr id="16" name="Picture 15" descr="HD-PanelTitle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>
            <a:xfrm>
              <a:off x="2328332" y="1540931"/>
              <a:ext cx="7543802" cy="3835401"/>
            </a:xfrm>
            <a:prstGeom prst="rect">
              <a:avLst/>
            </a:prstGeom>
            <a:noFill/>
            <a:ln w="15875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7" name="Picture 16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6934" y="3147609"/>
              <a:ext cx="2478024" cy="612648"/>
            </a:xfrm>
            <a:prstGeom prst="rect">
              <a:avLst/>
            </a:prstGeom>
          </p:spPr>
        </p:pic>
        <p:pic>
          <p:nvPicPr>
            <p:cNvPr id="20" name="Picture 19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736202" y="3147609"/>
              <a:ext cx="2478024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2398" y="1871131"/>
            <a:ext cx="6815669" cy="1515533"/>
          </a:xfrm>
        </p:spPr>
        <p:txBody>
          <a:bodyPr anchor="b">
            <a:noAutofit/>
          </a:bodyPr>
          <a:lstStyle>
            <a:lvl1pPr algn="ctr">
              <a:defRPr sz="54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2398" y="3657597"/>
            <a:ext cx="6815669" cy="1320802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83232" y="5037663"/>
            <a:ext cx="897467" cy="27940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92397" y="5037663"/>
            <a:ext cx="5214635" cy="27940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956900" y="5037663"/>
            <a:ext cx="551167" cy="27940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692399" y="3522131"/>
            <a:ext cx="681566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73754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51199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15069" y="1752606"/>
            <a:ext cx="8158688" cy="1822514"/>
          </a:xfrm>
        </p:spPr>
        <p:txBody>
          <a:bodyPr anchor="b">
            <a:normAutofit/>
          </a:bodyPr>
          <a:lstStyle>
            <a:lvl1pPr algn="ctr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5067" y="3846051"/>
            <a:ext cx="8158690" cy="954547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>
            <a:off x="2012723" y="3710585"/>
            <a:ext cx="8163380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65202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98448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1344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82728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9540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067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067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8" name="Straight Connector 1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16282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11546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18761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1" y="1388534"/>
            <a:ext cx="3718455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18668" y="982131"/>
            <a:ext cx="5469466" cy="4893735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3811" y="3031065"/>
            <a:ext cx="3718455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>
            <a:off x="1396169" y="2912533"/>
            <a:ext cx="35144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035877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399" y="1883832"/>
            <a:ext cx="6241816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094831" y="1041400"/>
            <a:ext cx="3063347" cy="4775200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399" y="3255432"/>
            <a:ext cx="6241816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2567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4815415"/>
            <a:ext cx="9609666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41427" y="1041399"/>
            <a:ext cx="10105972" cy="33358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401" y="5382153"/>
            <a:ext cx="9609666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77798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3868" y="982132"/>
            <a:ext cx="9592732" cy="2954868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3868" y="4343399"/>
            <a:ext cx="9592732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97440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58420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20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343399"/>
            <a:ext cx="9609666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267" y="282787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123086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2" y="3308581"/>
            <a:ext cx="9609668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777381"/>
            <a:ext cx="960966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538034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9312"/>
            <a:ext cx="9609668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529667"/>
            <a:ext cx="9609668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267" y="25992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424109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982132"/>
            <a:ext cx="9609666" cy="2243668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0168"/>
            <a:ext cx="9609668" cy="84124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470399"/>
            <a:ext cx="9609670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4037116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74748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9356" y="982131"/>
            <a:ext cx="1890895" cy="489373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5398" y="982132"/>
            <a:ext cx="7433025" cy="4893734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8863890" y="990600"/>
            <a:ext cx="0" cy="487680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687748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736" y="0"/>
            <a:ext cx="12229962" cy="6856214"/>
            <a:chOff x="-15736" y="0"/>
            <a:chExt cx="12229962" cy="6856214"/>
          </a:xfrm>
        </p:grpSpPr>
        <p:pic>
          <p:nvPicPr>
            <p:cNvPr id="8" name="Picture 7" descr="HD-PanelContent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608012" y="609600"/>
              <a:ext cx="10972800" cy="5638800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5736" y="3153832"/>
              <a:ext cx="77724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436986" y="3153832"/>
              <a:ext cx="77724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10322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28800" y="1495424"/>
            <a:ext cx="8500533" cy="934509"/>
          </a:xfrm>
        </p:spPr>
        <p:txBody>
          <a:bodyPr/>
          <a:lstStyle/>
          <a:p>
            <a:r>
              <a:rPr sz="4800" dirty="0"/>
              <a:t>AI MENTAL HEALTH UK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895600" y="2457450"/>
            <a:ext cx="6400800" cy="2690284"/>
          </a:xfrm>
        </p:spPr>
        <p:txBody>
          <a:bodyPr>
            <a:normAutofit/>
          </a:bodyPr>
          <a:lstStyle/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Mental Health Risk Prediction Model</a:t>
            </a:r>
          </a:p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AIML-4 Demo Walkthrough</a:t>
            </a:r>
          </a:p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May 2026</a:t>
            </a:r>
          </a:p>
          <a:p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Team: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AI/ML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Purpose: Predict 30-day readmission risk for mental health patients</a:t>
            </a:r>
          </a:p>
          <a:p>
            <a:pPr>
              <a:defRPr sz="1800"/>
            </a:pPr>
            <a:r>
              <a:t>Model: Ensemble (XGBoost + RF + LogReg)</a:t>
            </a:r>
          </a:p>
          <a:p>
            <a:pPr>
              <a:defRPr sz="1800"/>
            </a:pPr>
            <a:r>
              <a:t>Features: 14 input features</a:t>
            </a:r>
          </a:p>
          <a:p>
            <a:pPr>
              <a:defRPr sz="1800"/>
            </a:pPr>
            <a:r>
              <a:t>Target: F1 &gt; 0.80</a:t>
            </a:r>
          </a:p>
          <a:p>
            <a:pPr>
              <a:defRPr sz="1800"/>
            </a:pPr>
            <a:r>
              <a:t>Data: NHS MHSDS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Week 1: Data Collection &amp; EDA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AIML-1: Data Analysis</a:t>
            </a:r>
          </a:p>
          <a:p>
            <a:pPr>
              <a:defRPr sz="1800"/>
            </a:pPr>
            <a:r>
              <a:t>496 patient records analyzed</a:t>
            </a:r>
          </a:p>
          <a:p>
            <a:pPr>
              <a:defRPr sz="1800"/>
            </a:pPr>
            <a:r>
              <a:t>PHQ-9: Mean=12, SD=7</a:t>
            </a:r>
          </a:p>
          <a:p>
            <a:pPr>
              <a:defRPr sz="1800"/>
            </a:pPr>
            <a:r>
              <a:t>GAD-7: Mean=10, SD=6</a:t>
            </a:r>
          </a:p>
          <a:p>
            <a:pPr>
              <a:defRPr sz="1800"/>
            </a:pPr>
            <a:r>
              <a:t>14 features engineered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562186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rPr dirty="0"/>
              <a:t>Week 1: Feature Analysis</a:t>
            </a:r>
          </a:p>
        </p:txBody>
      </p:sp>
      <p:pic>
        <p:nvPicPr>
          <p:cNvPr id="3" name="Picture 2" descr="feature_target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4532" y="1193800"/>
            <a:ext cx="9838267" cy="494453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Week 2: Baseline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AIML-2: Model Development</a:t>
            </a:r>
          </a:p>
          <a:p>
            <a:pPr>
              <a:defRPr sz="1800"/>
            </a:pPr>
            <a:r>
              <a:t>Logistic Regression: F1=0.72, AUC=0.78</a:t>
            </a:r>
          </a:p>
          <a:p>
            <a:pPr>
              <a:defRPr sz="1800"/>
            </a:pPr>
            <a:r>
              <a:t>Random Forest: F1=0.75, AUC=0.80</a:t>
            </a:r>
          </a:p>
          <a:p>
            <a:pPr>
              <a:defRPr sz="1800"/>
            </a:pPr>
            <a:r>
              <a:t>XGBoost: F1=0.78, AUC=0.82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28133" y="497841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rPr dirty="0"/>
              <a:t>Week 2: ROC Curve</a:t>
            </a:r>
          </a:p>
        </p:txBody>
      </p:sp>
      <p:pic>
        <p:nvPicPr>
          <p:cNvPr id="3" name="Picture 2" descr="xgboost_roc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1" y="1031240"/>
            <a:ext cx="9872132" cy="51494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Week 3: Ensemble + Tuning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AIML-2: Ensemble Model</a:t>
            </a:r>
          </a:p>
          <a:p>
            <a:pPr>
              <a:defRPr sz="1800"/>
            </a:pPr>
            <a:r>
              <a:t>Voting Ensemble: XGBoost + RF + LogReg</a:t>
            </a:r>
          </a:p>
          <a:p>
            <a:pPr>
              <a:defRPr sz="1800"/>
            </a:pPr>
            <a:r>
              <a:t>20 Optuna trials</a:t>
            </a:r>
          </a:p>
          <a:p>
            <a:pPr>
              <a:defRPr sz="1800"/>
            </a:pPr>
            <a:r>
              <a:t>Training F1=1.00, AUC=1.00</a:t>
            </a:r>
          </a:p>
          <a:p>
            <a:pPr>
              <a:defRPr sz="1800"/>
            </a:pPr>
            <a:r>
              <a:t>Saved: ensemble_v3.pkl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8934" y="592667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rPr dirty="0"/>
              <a:t>Week 3: Ensemble Comparison</a:t>
            </a:r>
          </a:p>
        </p:txBody>
      </p:sp>
      <p:pic>
        <p:nvPicPr>
          <p:cNvPr id="3" name="Picture 2" descr="ensembl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267" y="1202267"/>
            <a:ext cx="9906000" cy="496146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6400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rPr dirty="0"/>
              <a:t>Week 3: SHAP Analysis</a:t>
            </a:r>
          </a:p>
        </p:txBody>
      </p:sp>
      <p:pic>
        <p:nvPicPr>
          <p:cNvPr id="3" name="Picture 2" descr="shap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219200"/>
            <a:ext cx="822960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Week 4: Model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AIML-1: Validation</a:t>
            </a:r>
          </a:p>
          <a:p>
            <a:pPr>
              <a:defRPr sz="1800"/>
            </a:pPr>
            <a:r>
              <a:t>MHSDS Validation: F1=0.34, AUC=0.51</a:t>
            </a:r>
          </a:p>
          <a:p>
            <a:pPr>
              <a:defRPr sz="1800"/>
            </a:pPr>
            <a:r>
              <a:t>Model Card created</a:t>
            </a:r>
          </a:p>
          <a:p>
            <a:pPr>
              <a:defRPr sz="1800"/>
            </a:pPr>
            <a:r>
              <a:t>Load testing completed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02733" y="8331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rPr dirty="0"/>
              <a:t>Week 4: Bias Audit</a:t>
            </a:r>
          </a:p>
        </p:txBody>
      </p:sp>
      <p:pic>
        <p:nvPicPr>
          <p:cNvPr id="3" name="Picture 2" descr="bias_audit_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2150533"/>
            <a:ext cx="82296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AIML-4: Live Demo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Run: python Week 4/demo_notebook.py</a:t>
            </a:r>
          </a:p>
          <a:p>
            <a:pPr>
              <a:defRPr sz="1800"/>
            </a:pPr>
            <a:r>
              <a:t>P001: PHQ-9=18, GAD-7=15 → Risk 9.95 (HIGH)</a:t>
            </a:r>
          </a:p>
          <a:p>
            <a:pPr>
              <a:defRPr sz="1800"/>
            </a:pPr>
            <a:r>
              <a:t>P002: PHQ-9=3, GAD-7=2 → Risk 0.02 (LOW)</a:t>
            </a:r>
          </a:p>
          <a:p>
            <a:pPr>
              <a:defRPr sz="1800"/>
            </a:pPr>
            <a:r>
              <a:t>P003: PHQ-9=20, GAD-7=18 → Risk 9.96 (HIGH)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Limitations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NOT clinically validated</a:t>
            </a:r>
          </a:p>
          <a:p>
            <a:r>
              <a:t>Trained on synthetic data</a:t>
            </a:r>
          </a:p>
          <a:p>
            <a:r>
              <a:t>Validation metrics need improvement</a:t>
            </a:r>
          </a:p>
          <a:p>
            <a:r>
              <a:t>NHS approval pending</a:t>
            </a:r>
          </a:p>
          <a:p>
            <a:r>
              <a:t>NOT clinical replacement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09800" y="1683808"/>
            <a:ext cx="7772400" cy="1470025"/>
          </a:xfrm>
        </p:spPr>
        <p:txBody>
          <a:bodyPr/>
          <a:lstStyle/>
          <a:p>
            <a:r>
              <a:rPr dirty="0"/>
              <a:t>Thank You!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819399" y="3530600"/>
            <a:ext cx="6400800" cy="1752600"/>
          </a:xfrm>
        </p:spPr>
        <p:txBody>
          <a:bodyPr>
            <a:normAutofit fontScale="85000" lnSpcReduction="20000"/>
          </a:bodyPr>
          <a:lstStyle/>
          <a:p>
            <a:r>
              <a:rPr dirty="0"/>
              <a:t>Dinisha Jain</a:t>
            </a:r>
          </a:p>
          <a:p>
            <a:r>
              <a:rPr dirty="0"/>
              <a:t>Mohit</a:t>
            </a:r>
          </a:p>
          <a:p>
            <a:r>
              <a:rPr dirty="0"/>
              <a:t>May 2026</a:t>
            </a:r>
          </a:p>
          <a:p>
            <a:endParaRPr dirty="0"/>
          </a:p>
          <a:p>
            <a:r>
              <a:rPr dirty="0"/>
              <a:t>Questions?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ganic">
  <a:themeElements>
    <a:clrScheme name="Organic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Organic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c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8</TotalTime>
  <Words>280</Words>
  <Application>Microsoft Office PowerPoint</Application>
  <PresentationFormat>Widescreen</PresentationFormat>
  <Paragraphs>56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Garamond</vt:lpstr>
      <vt:lpstr>Times New Roman</vt:lpstr>
      <vt:lpstr>Organic</vt:lpstr>
      <vt:lpstr>AI MENTAL HEALTH UK</vt:lpstr>
      <vt:lpstr>Project Overview</vt:lpstr>
      <vt:lpstr>Week 1: Data Collection &amp; EDA</vt:lpstr>
      <vt:lpstr>PowerPoint Presentation</vt:lpstr>
      <vt:lpstr>Week 2: Baseline Models</vt:lpstr>
      <vt:lpstr>PowerPoint Presentation</vt:lpstr>
      <vt:lpstr>Week 3: Ensemble + Tuning</vt:lpstr>
      <vt:lpstr>PowerPoint Presentation</vt:lpstr>
      <vt:lpstr>PowerPoint Presentation</vt:lpstr>
      <vt:lpstr>Week 4: Model Validation</vt:lpstr>
      <vt:lpstr>PowerPoint Presentation</vt:lpstr>
      <vt:lpstr>AIML-4: Live Demo</vt:lpstr>
      <vt:lpstr>Limitations</vt:lpstr>
      <vt:lpstr>Thank You!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Dinisha Jain</cp:lastModifiedBy>
  <cp:revision>2</cp:revision>
  <dcterms:created xsi:type="dcterms:W3CDTF">2013-01-27T09:14:16Z</dcterms:created>
  <dcterms:modified xsi:type="dcterms:W3CDTF">2026-05-25T16:34:44Z</dcterms:modified>
  <cp:category/>
</cp:coreProperties>
</file>