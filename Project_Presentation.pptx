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embeddedFontLst>
    <p:embeddedFont>
      <p:font typeface="Quattrocento" panose="02020502030000000404" pitchFamily="18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4309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635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927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23577" y="522015"/>
            <a:ext cx="309637" cy="290661"/>
          </a:xfrm>
          <a:prstGeom prst="roundRect">
            <a:avLst>
              <a:gd name="adj" fmla="val 6177"/>
            </a:avLst>
          </a:prstGeom>
          <a:noFill/>
          <a:ln w="4763">
            <a:solidFill>
              <a:srgbClr val="EF9C8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8083" y="571649"/>
            <a:ext cx="577825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AI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08000" y="522015"/>
            <a:ext cx="1144637" cy="290661"/>
          </a:xfrm>
          <a:prstGeom prst="roundRect">
            <a:avLst>
              <a:gd name="adj" fmla="val 6177"/>
            </a:avLst>
          </a:prstGeom>
          <a:noFill/>
          <a:ln w="4763">
            <a:solidFill>
              <a:srgbClr val="EF9C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2506" y="571649"/>
            <a:ext cx="1412825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MENTAL HEALTH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127424" y="522015"/>
            <a:ext cx="354062" cy="290661"/>
          </a:xfrm>
          <a:prstGeom prst="roundRect">
            <a:avLst>
              <a:gd name="adj" fmla="val 6177"/>
            </a:avLst>
          </a:prstGeom>
          <a:noFill/>
          <a:ln w="4763">
            <a:solidFill>
              <a:srgbClr val="EF9C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21929" y="571649"/>
            <a:ext cx="622250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23577" y="872505"/>
            <a:ext cx="8096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AI-Powered Mental Health Risk Intelligence System</a:t>
            </a:r>
            <a:endParaRPr lang="en-US" sz="2750" dirty="0"/>
          </a:p>
        </p:txBody>
      </p:sp>
      <p:sp>
        <p:nvSpPr>
          <p:cNvPr id="11" name="Text 8"/>
          <p:cNvSpPr/>
          <p:nvPr/>
        </p:nvSpPr>
        <p:spPr>
          <a:xfrm>
            <a:off x="1584871" y="1812354"/>
            <a:ext cx="5745659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Predictive Analytics for Early Mental Health Intervention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3023741" y="2136130"/>
            <a:ext cx="2867844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AIML-4 Demo Walkthrough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3287316" y="2459906"/>
            <a:ext cx="2340769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May 2026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3287316" y="2783681"/>
            <a:ext cx="2340769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Team: AI/ML</a:t>
            </a:r>
            <a:endParaRPr lang="en-US" sz="16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3271986"/>
            <a:ext cx="374005" cy="37400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3577" y="383299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Clinical Insight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23577" y="4142705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Data-driven mental health risk prediction</a:t>
            </a:r>
            <a:endParaRPr lang="en-US" sz="11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4860" y="3271986"/>
            <a:ext cx="374005" cy="37400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284860" y="383299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Trustworthy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3284860" y="4142705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Designed for a calm, professional setting</a:t>
            </a:r>
            <a:endParaRPr lang="en-US" sz="11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46143" y="3271986"/>
            <a:ext cx="374005" cy="37400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46143" y="383299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Monitoring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046143" y="4142705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Supporting early awareness and review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2804" y="536525"/>
            <a:ext cx="5709717" cy="425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Project Vision &amp; Business Objective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23577" y="1071488"/>
            <a:ext cx="3857774" cy="425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688902"/>
            <a:ext cx="2627337" cy="26273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577" y="4398690"/>
            <a:ext cx="4210794" cy="142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37472" y="1672382"/>
            <a:ext cx="4087639" cy="2518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Developed an AI-driven framework to identify patients at risk of mental health deterioration.</a:t>
            </a:r>
            <a:endParaRPr lang="en-US" sz="100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Purpose: Designed a predictive model to estimate 30-day readmission probability.</a:t>
            </a:r>
            <a:endParaRPr lang="en-US" sz="100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Leveraged advanced machine learning techniques for proactive healthcare decision-making.</a:t>
            </a:r>
            <a:endParaRPr lang="en-US" sz="100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Model: An ensemble approach combining XGBoost, Random Forest, and Logistic Regression</a:t>
            </a:r>
            <a:endParaRPr lang="en-US" sz="100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Utilized behavioral, clinical, and assessment-based features.</a:t>
            </a:r>
            <a:endParaRPr lang="en-US" sz="100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Features: 14 predictive input features</a:t>
            </a:r>
            <a:endParaRPr lang="en-US" sz="100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Target: Achieve an F1 score above 0.80</a:t>
            </a:r>
            <a:endParaRPr lang="en-US" sz="100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Data: NHS MHSDS data</a:t>
            </a:r>
            <a:endParaRPr lang="en-US" sz="100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Goal: Improve patient outcomes through early intervention.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076" y="506909"/>
            <a:ext cx="8039174" cy="455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Week 1: Data Discovery &amp; Exploratory Analysis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23577" y="1088529"/>
            <a:ext cx="4100661" cy="455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292" y="1777529"/>
            <a:ext cx="1346448" cy="134644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0484" y="1777529"/>
            <a:ext cx="1346448" cy="13464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46178" y="1754237"/>
            <a:ext cx="3097411" cy="33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AIML-1: Data analysis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4546178" y="2168351"/>
            <a:ext cx="4078932" cy="1747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Analyzed 496 patient records from mental health datasets.</a:t>
            </a:r>
            <a:endParaRPr lang="en-US" sz="10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Examined symptom severity using PHQ-9 and GAD-7 assessments.</a:t>
            </a:r>
            <a:endParaRPr lang="en-US" sz="10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PHQ-9: Mean = 12, SD = 7</a:t>
            </a:r>
            <a:endParaRPr lang="en-US" sz="10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GAD-7: Mean = 10, SD = 6</a:t>
            </a:r>
            <a:endParaRPr lang="en-US" sz="10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Identified key behavioral and clinical patterns.</a:t>
            </a:r>
            <a:endParaRPr lang="en-US" sz="10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Engineered 14 predictive features for model development.</a:t>
            </a:r>
            <a:endParaRPr lang="en-US" sz="10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Generated actionable insights through statistical exploration.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23577" y="4039791"/>
            <a:ext cx="2642890" cy="596801"/>
          </a:xfrm>
          <a:prstGeom prst="roundRect">
            <a:avLst>
              <a:gd name="adj" fmla="val 2820"/>
            </a:avLst>
          </a:prstGeom>
          <a:solidFill>
            <a:srgbClr val="315251"/>
          </a:solidFill>
          <a:ln/>
        </p:spPr>
      </p:sp>
      <p:sp>
        <p:nvSpPr>
          <p:cNvPr id="9" name="Text 5"/>
          <p:cNvSpPr/>
          <p:nvPr/>
        </p:nvSpPr>
        <p:spPr>
          <a:xfrm>
            <a:off x="635719" y="4151933"/>
            <a:ext cx="13201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PHQ-9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35719" y="4367361"/>
            <a:ext cx="2418606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Mean = 12, SD = 7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3250555" y="4039791"/>
            <a:ext cx="2642890" cy="596801"/>
          </a:xfrm>
          <a:prstGeom prst="roundRect">
            <a:avLst>
              <a:gd name="adj" fmla="val 2820"/>
            </a:avLst>
          </a:prstGeom>
          <a:solidFill>
            <a:srgbClr val="315251"/>
          </a:solidFill>
          <a:ln/>
        </p:spPr>
      </p:sp>
      <p:sp>
        <p:nvSpPr>
          <p:cNvPr id="12" name="Text 8"/>
          <p:cNvSpPr/>
          <p:nvPr/>
        </p:nvSpPr>
        <p:spPr>
          <a:xfrm>
            <a:off x="3362697" y="4151933"/>
            <a:ext cx="13201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GAD-7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62697" y="4367361"/>
            <a:ext cx="2418606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Mean = 10, SD = 6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977533" y="4039791"/>
            <a:ext cx="2642890" cy="596801"/>
          </a:xfrm>
          <a:prstGeom prst="roundRect">
            <a:avLst>
              <a:gd name="adj" fmla="val 2820"/>
            </a:avLst>
          </a:prstGeom>
          <a:solidFill>
            <a:srgbClr val="315251"/>
          </a:solidFill>
          <a:ln/>
        </p:spPr>
      </p:sp>
      <p:sp>
        <p:nvSpPr>
          <p:cNvPr id="15" name="Text 11"/>
          <p:cNvSpPr/>
          <p:nvPr/>
        </p:nvSpPr>
        <p:spPr>
          <a:xfrm>
            <a:off x="6089675" y="4151933"/>
            <a:ext cx="13201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Records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089675" y="4367361"/>
            <a:ext cx="2418606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496 patient records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22759"/>
            <a:ext cx="809684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Week 1: Feature Insights &amp; Correlation Assessment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23577" y="1685776"/>
            <a:ext cx="8554045" cy="172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2073399"/>
            <a:ext cx="4464100" cy="24395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502" y="2051893"/>
            <a:ext cx="2224608" cy="2470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Evaluated feature importance and relationships.</a:t>
            </a:r>
            <a:endParaRPr lang="en-US" sz="100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Identified variables contributing most to patient risk prediction.</a:t>
            </a:r>
            <a:endParaRPr lang="en-US" sz="100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Investigated trends, distributions, and correlations.</a:t>
            </a:r>
            <a:endParaRPr lang="en-US" sz="100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Reduced noise through feature selection techniques.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5392" y="435471"/>
            <a:ext cx="8113216" cy="1016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Week 2: Machine Learning Model Benchmarking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15392" y="1608609"/>
            <a:ext cx="2224460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83" y="2104355"/>
            <a:ext cx="2459608" cy="2459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19215" y="2091258"/>
            <a:ext cx="4304928" cy="36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AIML-2: Model Development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3719215" y="2564085"/>
            <a:ext cx="5371281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719215" y="2842171"/>
            <a:ext cx="4914081" cy="1829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Logistic Regression: F1 = 0.72, AUC = 0.78</a:t>
            </a:r>
            <a:endParaRPr lang="en-US" sz="10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Random Forest: F1 = 0.75, AUC = 0.80</a:t>
            </a:r>
            <a:endParaRPr lang="en-US" sz="10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XGBoost: F1 = 0.78, AUC = 0.82</a:t>
            </a:r>
            <a:endParaRPr lang="en-US" sz="10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Established baseline performance using multiple algorithms.</a:t>
            </a:r>
            <a:endParaRPr lang="en-US" sz="10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Compared Logistic Regression, Random Forest, and XGBoost.</a:t>
            </a:r>
            <a:endParaRPr lang="en-US" sz="10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Evaluated models using F1-Score and ROC-AUC metrics.</a:t>
            </a:r>
            <a:endParaRPr lang="en-US" sz="10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Selected high-performing candidates for ensemble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5392" y="456084"/>
            <a:ext cx="7377559" cy="448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Week 2: Model Performance Visualization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5392" y="1026691"/>
            <a:ext cx="2016547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92" y="1435596"/>
            <a:ext cx="3884414" cy="20273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68826" y="1417290"/>
            <a:ext cx="2664470" cy="324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Achieved ROC-AUC of 1.00, indicating excellent classification performance.</a:t>
            </a:r>
            <a:endParaRPr lang="en-US" sz="10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Effectively distinguished high-risk and low-risk patients.</a:t>
            </a:r>
            <a:endParaRPr lang="en-US" sz="10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Maintained high detection accuracy with minimal false positives.</a:t>
            </a:r>
            <a:endParaRPr lang="en-US" sz="10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ROC curve near the top-left corner, showing strong sensitivity and specificity.</a:t>
            </a:r>
            <a:endParaRPr lang="en-US" sz="10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Validated XGBoost as an effective risk prediction model.</a:t>
            </a:r>
            <a:endParaRPr lang="en-US" sz="10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Enabled reliable early risk identification and intervention planning.</a:t>
            </a:r>
            <a:endParaRPr lang="en-US" sz="10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Demonstrated robust performance across classification thresholds.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8030"/>
            <a:ext cx="8096845" cy="850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Week 3: Advanced Ensemble Architecture &amp; Optimization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23577" y="1388046"/>
            <a:ext cx="3857774" cy="425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523577" y="1988939"/>
            <a:ext cx="4544839" cy="142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23577" y="2204591"/>
            <a:ext cx="3211339" cy="307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AIML-2 ensemble model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23577" y="2585814"/>
            <a:ext cx="4544839" cy="142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23577" y="2794099"/>
            <a:ext cx="4087639" cy="1577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Combined multiple algorithms using voting ensemble strategy: XGBoost + RF + LogReg</a:t>
            </a:r>
            <a:endParaRPr lang="en-US" sz="100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Applied hyperparameter optimization for improved performance.</a:t>
            </a:r>
            <a:endParaRPr lang="en-US" sz="100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Enhanced prediction stability and model robustness.</a:t>
            </a:r>
            <a:endParaRPr lang="en-US" sz="100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Saved optimized production-ready model version.</a:t>
            </a:r>
            <a:endParaRPr lang="en-US" sz="100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20 Optuna trials</a:t>
            </a:r>
            <a:endParaRPr lang="en-US" sz="100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Training F1 = 1.00, AUC = 1.00</a:t>
            </a:r>
            <a:endParaRPr lang="en-US" sz="100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Saved as: ensemble_v3.pkl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533" y="2005459"/>
            <a:ext cx="2627486" cy="26274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5392" y="450800"/>
            <a:ext cx="7060109" cy="3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Week 3: Comparative Performance Evaluation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5392" y="931143"/>
            <a:ext cx="1808634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92" y="1260797"/>
            <a:ext cx="3645917" cy="22786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62849" y="1246956"/>
            <a:ext cx="2270447" cy="3424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Ensemble architecture consistently outperformed the baseline model across all evaluation metrics.</a:t>
            </a:r>
            <a:endParaRPr lang="en-US" sz="10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Achieved near-perfect Accuracy, F1-Score, and ROC-AUC, demonstrating superior predictive capability.</a:t>
            </a:r>
            <a:endParaRPr lang="en-US" sz="10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Combined strengths of multiple algorithms to reduce individual model weaknesses..</a:t>
            </a:r>
            <a:endParaRPr lang="en-US" sz="10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Improved classification consistency by leveraging collective decision-making through ensemble voting.</a:t>
            </a:r>
            <a:endParaRPr lang="en-US" sz="10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Surpassed the target performance benchmark (F1 &gt; 0.80), highlighting strong model effectiveness.</a:t>
            </a:r>
            <a:endParaRPr lang="en-US" sz="10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Results indicate enhanced robustness and better generalization potential for risk prediction tasks.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5392" y="450800"/>
            <a:ext cx="8418091" cy="3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Week 3: Explainable AI &amp; Feature Contribution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5392" y="931143"/>
            <a:ext cx="1808634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92" y="1260797"/>
            <a:ext cx="3645917" cy="2187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62849" y="1246956"/>
            <a:ext cx="2270447" cy="3424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Applied SHAP (SHapley Additive exPlanations) to uncover the reasoning behind model predictions.</a:t>
            </a:r>
            <a:endParaRPr lang="en-US" sz="9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Identified </a:t>
            </a: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PHQ-9 Tier Code</a:t>
            </a: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and </a:t>
            </a: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GAD-7 Tier Code</a:t>
            </a: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as the most influential predictors of mental health risk.</a:t>
            </a:r>
            <a:endParaRPr lang="en-US" sz="9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Quantified the contribution of each feature to improve model transparency and accountability.</a:t>
            </a:r>
            <a:endParaRPr lang="en-US" sz="9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Revealed how symptom severity indicators significantly impact risk assessment outcomes.</a:t>
            </a:r>
            <a:endParaRPr lang="en-US" sz="9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Enabled data-driven understanding of which patient characteristics influence predictions the most.</a:t>
            </a:r>
            <a:endParaRPr lang="en-US" sz="9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Enhanced trust in AI recommendations by making complex model decisions interpretable.</a:t>
            </a:r>
            <a:endParaRPr lang="en-US" sz="9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Supported responsible AI practices through transparent and explainable decision-making.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1633" y="411435"/>
            <a:ext cx="7552134" cy="3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Week 4: Real-World Validation &amp; Reliability Testing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5392" y="891778"/>
            <a:ext cx="2709639" cy="281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92" y="1334021"/>
            <a:ext cx="2560886" cy="25608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93518" y="1326356"/>
            <a:ext cx="3371031" cy="281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AIML-1 validation completed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693518" y="1669107"/>
            <a:ext cx="4397053" cy="12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693518" y="1849710"/>
            <a:ext cx="3939853" cy="2860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Successfully completed AIML-1 validation and performance assessment.</a:t>
            </a:r>
            <a:endParaRPr lang="en-US" sz="95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Evaluated model behavior on independent validation datasets.</a:t>
            </a:r>
            <a:endParaRPr lang="en-US" sz="95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Assessed model generalization capability beyond training data.</a:t>
            </a:r>
            <a:endParaRPr lang="en-US" sz="95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Tested prediction consistency under different evaluation scenarios.</a:t>
            </a:r>
            <a:endParaRPr lang="en-US" sz="95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Conducted scalability and load-testing to measure deployment readiness.</a:t>
            </a:r>
            <a:endParaRPr lang="en-US" sz="95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Generated comprehensive model documentation and validation reports.</a:t>
            </a:r>
            <a:endParaRPr lang="en-US" sz="95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Developed a Model Card to ensure transparency and responsible AI practices.</a:t>
            </a:r>
            <a:endParaRPr lang="en-US" sz="95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Identified performance gaps through MHSDS validation (F1 = 0.34, AUC = 0.51).</a:t>
            </a:r>
            <a:endParaRPr lang="en-US" sz="95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Validation results highlighted opportunities for further optimization and  improvement.</a:t>
            </a:r>
            <a:endParaRPr lang="en-US" sz="95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Established a foundation for future clinical validation and real-world adoption.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9444"/>
            <a:ext cx="8096845" cy="121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Week 4: Fairness, Ethics &amp; Bias Assessment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23577" y="1868239"/>
            <a:ext cx="2569369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2356545"/>
            <a:ext cx="7069187" cy="23575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0544" y="339849"/>
            <a:ext cx="5694238" cy="320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AIML-4: Interactive Prediction Demonstration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25425" y="723156"/>
            <a:ext cx="3022774" cy="320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25" y="1153344"/>
            <a:ext cx="3459956" cy="34599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5981" y="1148135"/>
            <a:ext cx="2316361" cy="232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Run the demo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945981" y="1422127"/>
            <a:ext cx="3198019" cy="96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945981" y="1556221"/>
            <a:ext cx="2777282" cy="1835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2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Demonstrated real-time risk prediction workflow.</a:t>
            </a:r>
            <a:endParaRPr lang="en-US" sz="1000" dirty="0"/>
          </a:p>
          <a:p>
            <a:pPr marL="342900" indent="-342900" algn="l">
              <a:lnSpc>
                <a:spcPct val="102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Processed patient assessment inputs.</a:t>
            </a:r>
            <a:endParaRPr lang="en-US" sz="1000" dirty="0"/>
          </a:p>
          <a:p>
            <a:pPr marL="342900" indent="-342900" algn="l">
              <a:lnSpc>
                <a:spcPct val="102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Generated automated risk scores and classifications.</a:t>
            </a:r>
            <a:endParaRPr lang="en-US" sz="1000" dirty="0"/>
          </a:p>
          <a:p>
            <a:pPr marL="342900" indent="-342900" algn="l">
              <a:lnSpc>
                <a:spcPct val="102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Showcased practical deployment capabilities.</a:t>
            </a:r>
            <a:endParaRPr lang="en-US" sz="1000" dirty="0"/>
          </a:p>
          <a:p>
            <a:pPr marL="342900" indent="-342900" algn="l">
              <a:lnSpc>
                <a:spcPct val="102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Executed a live end-to-end mental health risk prediction workflow.</a:t>
            </a:r>
            <a:endParaRPr lang="en-US" sz="1000" dirty="0"/>
          </a:p>
          <a:p>
            <a:pPr marL="342900" indent="-342900" algn="l">
              <a:lnSpc>
                <a:spcPct val="102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Automatically classified patients into High-Risk and Low-Risk categories.</a:t>
            </a:r>
            <a:endParaRPr lang="en-US" sz="1000" dirty="0"/>
          </a:p>
          <a:p>
            <a:pPr marL="342900" indent="-342900" algn="l">
              <a:lnSpc>
                <a:spcPct val="102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Simulated real-world patient assessment scenarios using PHQ-9 and GAD-7 scores.</a:t>
            </a:r>
            <a:endParaRPr lang="en-US" sz="1000" dirty="0"/>
          </a:p>
          <a:p>
            <a:pPr marL="342900" indent="-342900" algn="l">
              <a:lnSpc>
                <a:spcPct val="102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python Week 4/demo_notebook.py</a:t>
            </a:r>
            <a:endParaRPr lang="en-US" sz="1000" dirty="0"/>
          </a:p>
          <a:p>
            <a:pPr marL="342900" indent="-342900" algn="l">
              <a:lnSpc>
                <a:spcPct val="102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P001: PHQ-9 = 18, GAD-7 = 15 → Risk 9.95 (HIGH)</a:t>
            </a:r>
            <a:endParaRPr lang="en-US" sz="1000" dirty="0"/>
          </a:p>
          <a:p>
            <a:pPr marL="342900" indent="-342900" algn="l">
              <a:lnSpc>
                <a:spcPct val="102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P002: PHQ-9 = 3, GAD-7 = 2 → Risk 0.02 (LOW)</a:t>
            </a:r>
            <a:endParaRPr lang="en-US" sz="1000" dirty="0"/>
          </a:p>
          <a:p>
            <a:pPr marL="342900" indent="-342900" algn="l">
              <a:lnSpc>
                <a:spcPct val="102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P003: PHQ-9 = 20, GAD-7 = 18 → Risk 9.96 (HIGH)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25425" y="4707062"/>
            <a:ext cx="8718575" cy="96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7146" y="319683"/>
            <a:ext cx="4101033" cy="296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Challenges &amp; Future Enhancements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392683" y="668982"/>
            <a:ext cx="1486867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83" y="890960"/>
            <a:ext cx="3490987" cy="3490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6130" y="882997"/>
            <a:ext cx="3197870" cy="86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5946130" y="1001762"/>
            <a:ext cx="2809875" cy="2063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Successfully completed AIML-1 validation and performance assessment.</a:t>
            </a:r>
            <a:endParaRPr lang="en-US" sz="105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Evaluated model behavior on independent validation datasets.</a:t>
            </a:r>
            <a:endParaRPr lang="en-US" sz="105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Assessed model generalization capability beyond training data.</a:t>
            </a:r>
            <a:endParaRPr lang="en-US" sz="105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Tested prediction consistency under different evaluation scenarios.</a:t>
            </a:r>
            <a:endParaRPr lang="en-US" sz="105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Conducted scalability and load-testing to measure deployment readiness.</a:t>
            </a:r>
            <a:endParaRPr lang="en-US" sz="105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Generated comprehensive model documentation and validation reports.</a:t>
            </a:r>
            <a:endParaRPr lang="en-US" sz="105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Developed a Model Card to ensure transparency and responsible AI practices.</a:t>
            </a:r>
            <a:endParaRPr lang="en-US" sz="105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Identified performance gaps through MHSDS validation (F1 = 0.34, AUC = 0.51).</a:t>
            </a:r>
            <a:endParaRPr lang="en-US" sz="105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Validation results highlighted opportunities for further optimization and improvement.</a:t>
            </a:r>
            <a:endParaRPr lang="en-US" sz="105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Established a foundation for future clinical validation and real-world adoption.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92683" y="4461867"/>
            <a:ext cx="8751317" cy="86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392683" y="4588594"/>
            <a:ext cx="8751317" cy="10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92683" y="4736976"/>
            <a:ext cx="8751317" cy="86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endParaRPr lang="en-US" sz="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96529" y="1198290"/>
            <a:ext cx="4922267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Thank You for Your Attention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698129"/>
            <a:ext cx="6980634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                                    AI-Powered Mental Health Risk Intelligence System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23577" y="2186434"/>
            <a:ext cx="8554045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                                                                           Presented By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3287316" y="2709937"/>
            <a:ext cx="2340769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Mohit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287316" y="3033713"/>
            <a:ext cx="2340769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Dinisha Jain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287316" y="3357488"/>
            <a:ext cx="2340769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May 2026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207693" y="3681264"/>
            <a:ext cx="2499940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Questions &amp; Discussion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1033</Words>
  <Application>Microsoft Office PowerPoint</Application>
  <PresentationFormat>On-screen Show (16:9)</PresentationFormat>
  <Paragraphs>143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Quattrocento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MOHIT .</dc:creator>
  <cp:lastModifiedBy>MOHIT .</cp:lastModifiedBy>
  <cp:revision>2</cp:revision>
  <dcterms:created xsi:type="dcterms:W3CDTF">2026-05-29T12:04:13Z</dcterms:created>
  <dcterms:modified xsi:type="dcterms:W3CDTF">2026-05-29T12:19:00Z</dcterms:modified>
</cp:coreProperties>
</file>